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01 · 35 MM · ACADEMIC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0" i="0" spc="-5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3D342A"/>
                </a:solidFill>
                <a:latin typeface="Georgia"/>
              </a:rPr>
              <a:t>Fine-Tuned DistilBERT for Movie Review Sentiment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 spc="150">
                <a:solidFill>
                  <a:srgbClr val="1B1612"/>
                </a:solidFill>
                <a:latin typeface="Courier New"/>
              </a:rPr>
              <a:t>Esma Oruç      —      2022510140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 spc="150">
                <a:solidFill>
                  <a:srgbClr val="1B1612"/>
                </a:solidFill>
                <a:latin typeface="Courier New"/>
              </a:rPr>
              <a:t>Ayan Abasova   —      2022510014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300">
                <a:solidFill>
                  <a:srgbClr val="3D342A"/>
                </a:solidFill>
                <a:latin typeface="Courier New"/>
              </a:rPr>
              <a:t>CMP 4418  ·  FINAL PROJECT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02 ·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B1612"/>
                </a:solidFill>
                <a:latin typeface="Impact"/>
              </a:rPr>
              <a:t>Turning messy reviews</a:t>
            </a:r>
          </a:p>
          <a:p>
            <a:pPr algn="l"/>
            <a:r>
              <a:rPr sz="6400" b="0" i="0">
                <a:solidFill>
                  <a:srgbClr val="1B1612"/>
                </a:solidFill>
                <a:latin typeface="Impact"/>
              </a:rPr>
              <a:t>into structured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D342A"/>
                </a:solidFill>
                <a:latin typeface="Georgia"/>
              </a:rPr>
              <a:t>Movie reviews carry strong opinions but in a free, noisy 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60520"/>
            <a:ext cx="3657600" cy="18288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182880" cy="1828800"/>
          </a:xfrm>
          <a:prstGeom prst="rect">
            <a:avLst/>
          </a:prstGeom>
          <a:solidFill>
            <a:srgbClr val="9B2614"/>
          </a:solidFill>
          <a:ln w="12700">
            <a:solidFill>
              <a:srgbClr val="9B2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1612"/>
                </a:solidFill>
                <a:latin typeface="Georgia"/>
              </a:rPr>
              <a:t>Sarcasm, slang, comparatives, named entities.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4160520"/>
            <a:ext cx="3657600" cy="18288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4160520"/>
            <a:ext cx="182880" cy="1828800"/>
          </a:xfrm>
          <a:prstGeom prst="rect">
            <a:avLst/>
          </a:prstGeom>
          <a:solidFill>
            <a:srgbClr val="3D6B3A"/>
          </a:solidFill>
          <a:ln w="1270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4389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49377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1612"/>
                </a:solidFill>
                <a:latin typeface="Georgia"/>
              </a:rPr>
              <a:t>IMDB 50k offers ground-truth labels at scale.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4160520"/>
            <a:ext cx="3657600" cy="18288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4160520"/>
            <a:ext cx="182880" cy="1828800"/>
          </a:xfrm>
          <a:prstGeom prst="rect">
            <a:avLst/>
          </a:prstGeom>
          <a:solidFill>
            <a:srgbClr val="8A6A3A"/>
          </a:solidFill>
          <a:ln w="12700">
            <a:solidFill>
              <a:srgbClr val="8A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3" y="4389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3" y="49377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1612"/>
                </a:solidFill>
                <a:latin typeface="Georgia"/>
              </a:rPr>
              <a:t>Transformer encoder → end-to-end web product.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3D342A"/>
                </a:solidFill>
                <a:latin typeface="Courier New"/>
              </a:rPr>
              <a:t>CINESENTIMENT — CMP 4418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3D342A"/>
                </a:solidFill>
                <a:latin typeface="Courier New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03 · THE PIVOT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B1612"/>
                </a:solidFill>
                <a:latin typeface="Impact"/>
              </a:rPr>
              <a:t>From Twitter, to IMDB.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0" cy="36576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82880" cy="3657600"/>
          </a:xfrm>
          <a:prstGeom prst="rect">
            <a:avLst/>
          </a:prstGeom>
          <a:solidFill>
            <a:srgbClr val="9B2614"/>
          </a:solidFill>
          <a:ln w="12700">
            <a:solidFill>
              <a:srgbClr val="9B2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PART 1 · ORIGINAL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B1612"/>
                </a:solidFill>
                <a:latin typeface="Georgia"/>
              </a:rPr>
              <a:t>Live Twitter (X) sentiment on three movies side by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7A1C10"/>
                </a:solidFill>
                <a:latin typeface="Courier New"/>
              </a:rPr>
              <a:t>✗  Free API retired in 2023.</a:t>
            </a:r>
          </a:p>
          <a:p>
            <a:pPr algn="l"/>
            <a:r>
              <a:rPr sz="1400" b="0" i="0">
                <a:solidFill>
                  <a:srgbClr val="7A1C10"/>
                </a:solidFill>
                <a:latin typeface="Courier New"/>
              </a:rPr>
              <a:t>✗  Basic tier costs USD 100 / month.</a:t>
            </a:r>
          </a:p>
          <a:p>
            <a:pPr algn="l"/>
            <a:r>
              <a:rPr sz="1400" b="0" i="0">
                <a:solidFill>
                  <a:srgbClr val="7A1C10"/>
                </a:solidFill>
                <a:latin typeface="Courier New"/>
              </a:rPr>
              <a:t>✗  Tweets have no ground-truth labels.</a:t>
            </a:r>
          </a:p>
          <a:p>
            <a:pPr algn="l"/>
            <a:r>
              <a:rPr sz="1400" b="0" i="0">
                <a:solidFill>
                  <a:srgbClr val="7A1C10"/>
                </a:solidFill>
                <a:latin typeface="Courier New"/>
              </a:rPr>
              <a:t>✗  No reliable evaluation possible.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468880"/>
            <a:ext cx="5486400" cy="36576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468880"/>
            <a:ext cx="182880" cy="3657600"/>
          </a:xfrm>
          <a:prstGeom prst="rect">
            <a:avLst/>
          </a:prstGeom>
          <a:solidFill>
            <a:srgbClr val="3D6B3A"/>
          </a:solidFill>
          <a:ln w="1270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FINAL · IMDB 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B1612"/>
                </a:solidFill>
                <a:latin typeface="Georgia"/>
              </a:rPr>
              <a:t>Labelled benchmark · Maas et al. 2011 · 25 k train + 25 k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D6B3A"/>
                </a:solidFill>
                <a:latin typeface="Courier New"/>
              </a:rPr>
              <a:t>✓  Balanced 50/50 positive / negative.</a:t>
            </a:r>
          </a:p>
          <a:p>
            <a:pPr algn="l"/>
            <a:r>
              <a:rPr sz="1400" b="0" i="0">
                <a:solidFill>
                  <a:srgbClr val="3D6B3A"/>
                </a:solidFill>
                <a:latin typeface="Courier New"/>
              </a:rPr>
              <a:t>✓  Comparable with prior published work.</a:t>
            </a:r>
          </a:p>
          <a:p>
            <a:pPr algn="l"/>
            <a:r>
              <a:rPr sz="1400" b="0" i="0">
                <a:solidFill>
                  <a:srgbClr val="3D6B3A"/>
                </a:solidFill>
                <a:latin typeface="Courier New"/>
              </a:rPr>
              <a:t>✓  Confidence calibrated against truth.</a:t>
            </a:r>
          </a:p>
          <a:p>
            <a:pPr algn="l"/>
            <a:r>
              <a:rPr sz="1400" b="0" i="0">
                <a:solidFill>
                  <a:srgbClr val="3D6B3A"/>
                </a:solidFill>
                <a:latin typeface="Courier New"/>
              </a:rPr>
              <a:t>✓  Reproducible end-to-end.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3D342A"/>
                </a:solidFill>
                <a:latin typeface="Courier New"/>
              </a:rPr>
              <a:t>CINESENTIMENT — CMP 4418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3D342A"/>
                </a:solidFill>
                <a:latin typeface="Courier New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04 · THE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0" i="0">
                <a:solidFill>
                  <a:srgbClr val="1B1612"/>
                </a:solidFill>
                <a:latin typeface="Impact"/>
              </a:rPr>
              <a:t>Four layers, replaceable.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246888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64592" cy="17373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1612"/>
                </a:solidFill>
                <a:latin typeface="Georgia"/>
              </a:rPr>
              <a:t>Google Colab</a:t>
            </a:r>
          </a:p>
          <a:p>
            <a:pPr algn="l"/>
            <a:r>
              <a:rPr sz="1500" b="0" i="0">
                <a:solidFill>
                  <a:srgbClr val="1B1612"/>
                </a:solidFill>
                <a:latin typeface="Georgia"/>
              </a:rPr>
              <a:t>T4 GPU · 14 min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71800" y="3429000"/>
            <a:ext cx="320040" cy="365760"/>
          </a:xfrm>
          <a:prstGeom prst="rightArrow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743200"/>
            <a:ext cx="246888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743200"/>
            <a:ext cx="164592" cy="1737360"/>
          </a:xfrm>
          <a:prstGeom prst="rect">
            <a:avLst/>
          </a:prstGeom>
          <a:solidFill>
            <a:srgbClr val="3D6B3A"/>
          </a:solidFill>
          <a:ln w="1270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926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2900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1612"/>
                </a:solidFill>
                <a:latin typeface="Georgia"/>
              </a:rPr>
              <a:t>Hugging Face Hub</a:t>
            </a:r>
          </a:p>
          <a:p>
            <a:pPr algn="l"/>
            <a:r>
              <a:rPr sz="1500" b="0" i="0">
                <a:solidFill>
                  <a:srgbClr val="1B1612"/>
                </a:solidFill>
                <a:latin typeface="Georgia"/>
              </a:rPr>
              <a:t>ethsmaa/...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52160" y="3429000"/>
            <a:ext cx="320040" cy="365760"/>
          </a:xfrm>
          <a:prstGeom prst="rightArrow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743200"/>
            <a:ext cx="246888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164592" cy="1737360"/>
          </a:xfrm>
          <a:prstGeom prst="rect">
            <a:avLst/>
          </a:prstGeom>
          <a:solidFill>
            <a:srgbClr val="9B2614"/>
          </a:solidFill>
          <a:ln w="12700">
            <a:solidFill>
              <a:srgbClr val="9B2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2900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1612"/>
                </a:solidFill>
                <a:latin typeface="Georgia"/>
              </a:rPr>
              <a:t>FastAPI Sidecar</a:t>
            </a:r>
          </a:p>
          <a:p>
            <a:pPr algn="l"/>
            <a:r>
              <a:rPr sz="1500" b="0" i="0">
                <a:solidFill>
                  <a:srgbClr val="1B1612"/>
                </a:solidFill>
                <a:latin typeface="Georgia"/>
              </a:rPr>
              <a:t>Apple MPS · 50ms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2520" y="3429000"/>
            <a:ext cx="320040" cy="365760"/>
          </a:xfrm>
          <a:prstGeom prst="rightArrow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743200"/>
            <a:ext cx="246888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743200"/>
            <a:ext cx="164592" cy="1737360"/>
          </a:xfrm>
          <a:prstGeom prst="rect">
            <a:avLst/>
          </a:prstGeom>
          <a:solidFill>
            <a:srgbClr val="8A6A3A"/>
          </a:solidFill>
          <a:ln w="12700">
            <a:solidFill>
              <a:srgbClr val="8A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926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CONSUME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42900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1612"/>
                </a:solidFill>
                <a:latin typeface="Georgia"/>
              </a:rPr>
              <a:t>Hono + tRPC</a:t>
            </a:r>
          </a:p>
          <a:p>
            <a:pPr algn="l"/>
            <a:r>
              <a:rPr sz="1500" b="0" i="0">
                <a:solidFill>
                  <a:srgbClr val="1B1612"/>
                </a:solidFill>
                <a:latin typeface="Georgia"/>
              </a:rPr>
              <a:t>→ React 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663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WHY THIS 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1612"/>
                </a:solidFill>
                <a:latin typeface="Georgia"/>
              </a:rPr>
              <a:t>Each layer can be swapped without breaking the others: retrain the model, move serving to the cloud, replace the database — the contract is HTTP.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3D342A"/>
                </a:solidFill>
                <a:latin typeface="Courier New"/>
              </a:rPr>
              <a:t>CINESENTIMENT — CMP 4418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3D342A"/>
                </a:solidFill>
                <a:latin typeface="Courier New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05 ·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0" i="0">
                <a:solidFill>
                  <a:srgbClr val="1B1612"/>
                </a:solidFill>
                <a:latin typeface="Impact"/>
              </a:rPr>
              <a:t>IMDB 50,000 reviews.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260604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1B1612"/>
                </a:solidFill>
                <a:latin typeface="Impact"/>
              </a:rPr>
              <a:t>25,000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1B1612"/>
                </a:solidFill>
                <a:latin typeface="Courier New"/>
              </a:rPr>
              <a:t>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560320"/>
            <a:ext cx="260604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74320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1B1612"/>
                </a:solidFill>
                <a:latin typeface="Impact"/>
              </a:rPr>
              <a:t>25,000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6576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1B1612"/>
                </a:solidFill>
                <a:latin typeface="Courier New"/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560320"/>
            <a:ext cx="260604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74320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1B1612"/>
                </a:solidFill>
                <a:latin typeface="Impact"/>
              </a:rPr>
              <a:t>50 /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576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1B1612"/>
                </a:solidFill>
                <a:latin typeface="Courier New"/>
              </a:rPr>
              <a:t>BALANCE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2560320"/>
            <a:ext cx="260604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74320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 i="0">
                <a:solidFill>
                  <a:srgbClr val="1B1612"/>
                </a:solidFill>
                <a:latin typeface="Impact"/>
              </a:rPr>
              <a:t>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6576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1B1612"/>
                </a:solidFill>
                <a:latin typeface="Courier New"/>
              </a:rPr>
              <a:t>MAX TOKENS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0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182880" cy="1737360"/>
          </a:xfrm>
          <a:prstGeom prst="rect">
            <a:avLst/>
          </a:prstGeom>
          <a:solidFill>
            <a:srgbClr val="3D6B3A"/>
          </a:solidFill>
          <a:ln w="1270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POSITIVE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B1612"/>
                </a:solidFill>
                <a:latin typeface="Georgia"/>
              </a:rPr>
              <a:t>“A stunning, character-driven story with sharp dialogue and real emotional weight.”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572000"/>
            <a:ext cx="5486400" cy="173736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572000"/>
            <a:ext cx="182880" cy="1737360"/>
          </a:xfrm>
          <a:prstGeom prst="rect">
            <a:avLst/>
          </a:prstGeom>
          <a:solidFill>
            <a:srgbClr val="9B2614"/>
          </a:solidFill>
          <a:ln w="12700">
            <a:solidFill>
              <a:srgbClr val="9B2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709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NEGATIVE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7492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B1612"/>
                </a:solidFill>
                <a:latin typeface="Georgia"/>
              </a:rPr>
              <a:t>“Two hours of overlong, predictable melodrama. Skip it.”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3D342A"/>
                </a:solidFill>
                <a:latin typeface="Courier New"/>
              </a:rPr>
              <a:t>CINESENTIMENT — CMP 4418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3D342A"/>
                </a:solidFill>
                <a:latin typeface="Courier New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06 ·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B1612"/>
                </a:solidFill>
                <a:latin typeface="Impact"/>
              </a:rPr>
              <a:t>DistilBERT.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D342A"/>
                </a:solidFill>
                <a:latin typeface="Georgia"/>
              </a:rPr>
              <a:t>smaller. faster. lighter.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BASE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17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612"/>
                </a:solidFill>
                <a:latin typeface="Courier New"/>
              </a:rPr>
              <a:t>distilbert-base-uncased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783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612"/>
                </a:solidFill>
                <a:latin typeface="Courier New"/>
              </a:rPr>
              <a:t>66 million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77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612"/>
                </a:solidFill>
                <a:latin typeface="Courier New"/>
              </a:rPr>
              <a:t>6 encoder · 12 attention heads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71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PRETRAIN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612"/>
                </a:solidFill>
                <a:latin typeface="Courier New"/>
              </a:rPr>
              <a:t>Wikipedia + BookCorpus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566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CLASSIFIER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794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612"/>
                </a:solidFill>
                <a:latin typeface="Courier New"/>
              </a:rPr>
              <a:t>Linear, 2 labels on [CLS]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LITERATURE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B1612"/>
                </a:solidFill>
                <a:latin typeface="Georgia"/>
              </a:rPr>
              <a:t>“DistilBERT is 40 % smaller, 60 % faster, and keeps ≈ 97 % of BERT's downstream performance.”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342A"/>
                </a:solidFill>
                <a:latin typeface="Courier New"/>
              </a:rPr>
              <a:t>— Sanh, Debut, Chaumond, Wolf · 2019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3D342A"/>
                </a:solidFill>
                <a:latin typeface="Courier New"/>
              </a:rPr>
              <a:t>CINESENTIMENT — CMP 4418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3D342A"/>
                </a:solidFill>
                <a:latin typeface="Courier New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07 · THE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B1612"/>
                </a:solidFill>
                <a:latin typeface="Impact"/>
              </a:rPr>
              <a:t>14 minutes on a T4.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78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EPOCHS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612"/>
                </a:solidFill>
                <a:latin typeface="Courier New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548640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558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BATCH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83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612"/>
                </a:solidFill>
                <a:latin typeface="Courier New"/>
              </a:rPr>
              <a:t>16 per 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548640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33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LEARNING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612"/>
                </a:solidFill>
                <a:latin typeface="Courier New"/>
              </a:rPr>
              <a:t>2 × 10⁻⁵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548640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9103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9377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612"/>
                </a:solidFill>
                <a:latin typeface="Courier New"/>
              </a:rPr>
              <a:t>AdamW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68880"/>
            <a:ext cx="548640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578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MAX SEQ LENGTH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612"/>
                </a:solidFill>
                <a:latin typeface="Courier New"/>
              </a:rPr>
              <a:t>256 tokens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46120"/>
            <a:ext cx="548640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35584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383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612"/>
                </a:solidFill>
                <a:latin typeface="Courier New"/>
              </a:rPr>
              <a:t>FP16 mixed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023360"/>
            <a:ext cx="548640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133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612"/>
                </a:solidFill>
                <a:latin typeface="Courier New"/>
              </a:rPr>
              <a:t>NVIDIA T4 · Google Colab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800600"/>
            <a:ext cx="548640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9103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WALL-CLOCK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9377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612"/>
                </a:solidFill>
                <a:latin typeface="Courier New"/>
              </a:rPr>
              <a:t>858.6 s · ≈14.3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3D342A"/>
                </a:solidFill>
                <a:latin typeface="Courier New"/>
              </a:rPr>
              <a:t>CINESENTIMENT — CMP 4418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3D342A"/>
                </a:solidFill>
                <a:latin typeface="Courier New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08 · DIRECTOR'S COMMENTARY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B1612"/>
                </a:solidFill>
                <a:latin typeface="Impact"/>
              </a:rPr>
              <a:t>Binary model, three buckets.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D342A"/>
                </a:solidFill>
                <a:latin typeface="Georgia"/>
              </a:rPr>
              <a:t>The classifier outputs p⁺ ∈ [0, 1]. The UI shows three classes.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3936491" cy="640080"/>
          </a:xfrm>
          <a:prstGeom prst="rect">
            <a:avLst/>
          </a:prstGeom>
          <a:solidFill>
            <a:srgbClr val="9B2614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93691" y="3200400"/>
            <a:ext cx="3374136" cy="640080"/>
          </a:xfrm>
          <a:prstGeom prst="rect">
            <a:avLst/>
          </a:prstGeom>
          <a:solidFill>
            <a:srgbClr val="8A6A3A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67827" y="3200400"/>
            <a:ext cx="3936491" cy="640080"/>
          </a:xfrm>
          <a:prstGeom prst="rect">
            <a:avLst/>
          </a:prstGeom>
          <a:solidFill>
            <a:srgbClr val="3D6B3A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393649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200">
                <a:solidFill>
                  <a:srgbClr val="EFE5CD"/>
                </a:solidFill>
                <a:latin typeface="Courier New"/>
              </a:rPr>
              <a:t>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3691" y="3200400"/>
            <a:ext cx="337413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200">
                <a:solidFill>
                  <a:srgbClr val="EFE5CD"/>
                </a:solidFill>
                <a:latin typeface="Courier New"/>
              </a:rPr>
              <a:t>NEUTRAL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7827" y="3200400"/>
            <a:ext cx="393649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200">
                <a:solidFill>
                  <a:srgbClr val="EFE5CD"/>
                </a:solidFill>
                <a:latin typeface="Courier New"/>
              </a:rPr>
              <a:t>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342A"/>
                </a:solidFill>
                <a:latin typeface="Courier New"/>
              </a:rPr>
              <a:t>p⁺ = 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7891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B1612"/>
                </a:solidFill>
                <a:latin typeface="Courier New"/>
              </a:rPr>
              <a:t>p⁺ = 0.35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2027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B1612"/>
                </a:solidFill>
                <a:latin typeface="Courier New"/>
              </a:rPr>
              <a:t>p⁺ = 0.65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3D342A"/>
                </a:solidFill>
                <a:latin typeface="Courier New"/>
              </a:rPr>
              <a:t>p⁺ = 1.00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1612"/>
                </a:solidFill>
                <a:latin typeface="Courier New"/>
              </a:rPr>
              <a:t>CALLED OUT IN THE MODEL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B1612"/>
                </a:solidFill>
                <a:latin typeface="Georgia"/>
              </a:rPr>
              <a:t>Heuristic, not learned. Documented openly in both the source code and the in-app model page.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3D342A"/>
                </a:solidFill>
                <a:latin typeface="Courier New"/>
              </a:rPr>
              <a:t>CINESENTIMENT — CMP 4418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3D342A"/>
                </a:solidFill>
                <a:latin typeface="Courier New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09 · STRICT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0">
                <a:solidFill>
                  <a:srgbClr val="1B1612"/>
                </a:solidFill>
                <a:latin typeface="Impact"/>
              </a:rPr>
              <a:t>No silent fallbacks.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D342A"/>
                </a:solidFill>
                <a:latin typeface="Georgia"/>
              </a:rPr>
              <a:t>Every prediction shown in the UI must come from the trained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82880" cy="3200400"/>
          </a:xfrm>
          <a:prstGeom prst="rect">
            <a:avLst/>
          </a:prstGeom>
          <a:solidFill>
            <a:srgbClr val="9B2614"/>
          </a:solidFill>
          <a:ln w="12700">
            <a:solidFill>
              <a:srgbClr val="9B2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1612"/>
                </a:solidFill>
                <a:latin typeface="Georgia"/>
              </a:rPr>
              <a:t>Quiet fallback to a lexicon stand-in when FastAPI is down. Several hours of incorrect labels could go unnoticed.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926080"/>
            <a:ext cx="5486400" cy="32004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926080"/>
            <a:ext cx="182880" cy="3200400"/>
          </a:xfrm>
          <a:prstGeom prst="rect">
            <a:avLst/>
          </a:prstGeom>
          <a:solidFill>
            <a:srgbClr val="3D6B3A"/>
          </a:solidFill>
          <a:ln w="1270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1612"/>
                </a:solidFill>
                <a:latin typeface="Georgia"/>
              </a:rPr>
              <a:t>BERT_STRICT=true. Sidecar outage → loud error. Database carries one model version: distilbert-imdb-v1.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3D342A"/>
                </a:solidFill>
                <a:latin typeface="Courier New"/>
              </a:rPr>
              <a:t>CINESENTIMENT — CMP 4418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3D342A"/>
                </a:solidFill>
                <a:latin typeface="Courier New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10 ·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0" b="0" i="0" spc="-80">
                <a:solidFill>
                  <a:srgbClr val="1B1612"/>
                </a:solidFill>
                <a:latin typeface="Impact"/>
              </a:rPr>
              <a:t>91.51 %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 spc="400">
                <a:solidFill>
                  <a:srgbClr val="1B1612"/>
                </a:solidFill>
                <a:latin typeface="Courier New"/>
              </a:rPr>
              <a:t>ACCURACY  ON THE  IMDB  TEST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120640"/>
            <a:ext cx="2606040" cy="10972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1B1612"/>
                </a:solidFill>
                <a:latin typeface="Impact"/>
              </a:rPr>
              <a:t>0.9151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1B1612"/>
                </a:solidFill>
                <a:latin typeface="Courier New"/>
              </a:rPr>
              <a:t>WEIGHTED 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5120640"/>
            <a:ext cx="2606040" cy="10972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52120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1B1612"/>
                </a:solidFill>
                <a:latin typeface="Impact"/>
              </a:rPr>
              <a:t>0.9151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7607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1B1612"/>
                </a:solidFill>
                <a:latin typeface="Courier New"/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5120640"/>
            <a:ext cx="2606040" cy="10972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2120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1B1612"/>
                </a:solidFill>
                <a:latin typeface="Impact"/>
              </a:rPr>
              <a:t>0.9151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7607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1B1612"/>
                </a:solidFill>
                <a:latin typeface="Courier New"/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5120640"/>
            <a:ext cx="2606040" cy="10972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52120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1B1612"/>
                </a:solidFill>
                <a:latin typeface="Impact"/>
              </a:rPr>
              <a:t>25,000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7607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1B1612"/>
                </a:solidFill>
                <a:latin typeface="Courier New"/>
              </a:rPr>
              <a:t>TEST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3D342A"/>
                </a:solidFill>
                <a:latin typeface="Georgia"/>
              </a:rPr>
              <a:t>Target was 85 %. We beat it by more than six 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11 · ERROR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B1612"/>
                </a:solidFill>
                <a:latin typeface="Impact"/>
              </a:rPr>
              <a:t>Symmetric errors. Balanced classifier.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 spc="200">
                <a:solidFill>
                  <a:srgbClr val="3D342A"/>
                </a:solidFill>
                <a:latin typeface="Courier New"/>
              </a:rPr>
              <a:t>PREDICTED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1612"/>
                </a:solidFill>
                <a:latin typeface="Georgia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377440"/>
            <a:ext cx="2011680" cy="91440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3774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200">
                <a:solidFill>
                  <a:srgbClr val="1B1612"/>
                </a:solidFill>
                <a:latin typeface="Courier New"/>
              </a:rPr>
              <a:t>NEGATIVE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377440"/>
            <a:ext cx="2011680" cy="91440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200">
                <a:solidFill>
                  <a:srgbClr val="1B1612"/>
                </a:solidFill>
                <a:latin typeface="Courier New"/>
              </a:rPr>
              <a:t>POSITIVE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2011680" cy="91440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200">
                <a:solidFill>
                  <a:srgbClr val="1B1612"/>
                </a:solidFill>
                <a:latin typeface="Courier New"/>
              </a:rPr>
              <a:t>ACTUAL NEG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291840"/>
            <a:ext cx="2011680" cy="9144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32918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3D6B3A"/>
                </a:solidFill>
                <a:latin typeface="Impact"/>
              </a:rPr>
              <a:t>11,394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291840"/>
            <a:ext cx="2011680" cy="9144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2918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9B2614"/>
                </a:solidFill>
                <a:latin typeface="Impact"/>
              </a:rPr>
              <a:t>1,106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2011680" cy="91440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200">
                <a:solidFill>
                  <a:srgbClr val="1B1612"/>
                </a:solidFill>
                <a:latin typeface="Courier New"/>
              </a:rPr>
              <a:t>ACTUAL POS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4206240"/>
            <a:ext cx="2011680" cy="9144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42062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9B2614"/>
                </a:solidFill>
                <a:latin typeface="Impact"/>
              </a:rPr>
              <a:t>1,017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206240"/>
            <a:ext cx="2011680" cy="91440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3D6B3A"/>
                </a:solidFill>
                <a:latin typeface="Impact"/>
              </a:rPr>
              <a:t>11,483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011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PER-CLASS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377440"/>
            <a:ext cx="960120" cy="54864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37744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1B1612"/>
                </a:solidFill>
                <a:latin typeface="Courier New"/>
              </a:rPr>
              <a:t>CLASS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2377440"/>
            <a:ext cx="960120" cy="54864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237744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1B1612"/>
                </a:solidFill>
                <a:latin typeface="Courier New"/>
              </a:rPr>
              <a:t>PREC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2377440"/>
            <a:ext cx="960120" cy="54864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37744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1B1612"/>
                </a:solidFill>
                <a:latin typeface="Courier New"/>
              </a:rPr>
              <a:t>RECALL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38360" y="2377440"/>
            <a:ext cx="960120" cy="54864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237744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1B1612"/>
                </a:solidFill>
                <a:latin typeface="Courier New"/>
              </a:rPr>
              <a:t>F1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0" y="2377440"/>
            <a:ext cx="960120" cy="548640"/>
          </a:xfrm>
          <a:prstGeom prst="rect">
            <a:avLst/>
          </a:prstGeom>
          <a:solidFill>
            <a:srgbClr val="E5D9BE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0" y="237744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1B1612"/>
                </a:solidFill>
                <a:latin typeface="Courier New"/>
              </a:rPr>
              <a:t>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926080"/>
            <a:ext cx="137160" cy="640080"/>
          </a:xfrm>
          <a:prstGeom prst="rect">
            <a:avLst/>
          </a:prstGeom>
          <a:solidFill>
            <a:srgbClr val="9B2614"/>
          </a:solidFill>
          <a:ln w="12700">
            <a:solidFill>
              <a:srgbClr val="9B2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292608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292608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NEGATIVE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292608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292608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0.918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292608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292608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0.912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38360" y="292608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292608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0.915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0" y="292608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98480" y="292608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12,500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3566160"/>
            <a:ext cx="137160" cy="640080"/>
          </a:xfrm>
          <a:prstGeom prst="rect">
            <a:avLst/>
          </a:prstGeom>
          <a:solidFill>
            <a:srgbClr val="3D6B3A"/>
          </a:solidFill>
          <a:ln w="1270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0" y="356616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356616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POSITIVE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356616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356616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0.912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356616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356616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0.919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38360" y="356616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8360" y="356616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0.915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98480" y="3566160"/>
            <a:ext cx="960120" cy="6400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98480" y="3566160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1612"/>
                </a:solidFill>
                <a:latin typeface="Courier New"/>
              </a:rPr>
              <a:t>12,500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3D342A"/>
                </a:solidFill>
                <a:latin typeface="Georgia"/>
              </a:rPr>
              <a:t>Both classes within one F1 percentage point of each other. No re-weighting needed.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3D342A"/>
                </a:solidFill>
                <a:latin typeface="Courier New"/>
              </a:rPr>
              <a:t>CINESENTIMENT — CMP 4418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200">
                <a:solidFill>
                  <a:srgbClr val="3D342A"/>
                </a:solidFill>
                <a:latin typeface="Courier New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12 · OPEN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1B1612"/>
                </a:solidFill>
                <a:latin typeface="Impact"/>
              </a:rPr>
              <a:t>Live 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657600" cy="33832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82880" cy="3383280"/>
          </a:xfrm>
          <a:prstGeom prst="rect">
            <a:avLst/>
          </a:prstGeom>
          <a:solidFill>
            <a:srgbClr val="3D6B3A"/>
          </a:solidFill>
          <a:ln w="12700">
            <a:solidFill>
              <a:srgbClr val="3D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3017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huggingface.co/</a:t>
            </a:r>
          </a:p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ethsmaa/</a:t>
            </a:r>
          </a:p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cinesentiment-</a:t>
            </a:r>
          </a:p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distilbert-imdb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2560320"/>
            <a:ext cx="3657600" cy="33832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2560320"/>
            <a:ext cx="182880" cy="3383280"/>
          </a:xfrm>
          <a:prstGeom prst="rect">
            <a:avLst/>
          </a:prstGeom>
          <a:solidFill>
            <a:srgbClr val="8A6A3A"/>
          </a:solidFill>
          <a:ln w="12700">
            <a:solidFill>
              <a:srgbClr val="8A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743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383280"/>
            <a:ext cx="3017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github.com/</a:t>
            </a:r>
          </a:p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ethsmaa/</a:t>
            </a:r>
          </a:p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movie-sentiment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2560320"/>
            <a:ext cx="3657600" cy="3383280"/>
          </a:xfrm>
          <a:prstGeom prst="rect">
            <a:avLst/>
          </a:prstGeom>
          <a:solidFill>
            <a:srgbClr val="F7EFD9"/>
          </a:solidFill>
          <a:ln w="12700">
            <a:solidFill>
              <a:srgbClr val="1B1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2560320"/>
            <a:ext cx="182880" cy="3383280"/>
          </a:xfrm>
          <a:prstGeom prst="rect">
            <a:avLst/>
          </a:prstGeom>
          <a:solidFill>
            <a:srgbClr val="9B2614"/>
          </a:solidFill>
          <a:ln w="12700">
            <a:solidFill>
              <a:srgbClr val="9B2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8783" y="2743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1612"/>
                </a:solidFill>
                <a:latin typeface="Courier New"/>
              </a:rPr>
              <a:t>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3" y="3383280"/>
            <a:ext cx="3017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localhost:5173</a:t>
            </a:r>
          </a:p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· grid</a:t>
            </a:r>
          </a:p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· analyze</a:t>
            </a:r>
          </a:p>
          <a:p>
            <a:pPr algn="l"/>
            <a:r>
              <a:rPr sz="1400" b="0" i="0">
                <a:solidFill>
                  <a:srgbClr val="1B1612"/>
                </a:solidFill>
                <a:latin typeface="Courier New"/>
              </a:rPr>
              <a:t>· model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 spc="100">
                <a:solidFill>
                  <a:srgbClr val="3D342A"/>
                </a:solidFill>
                <a:latin typeface="Courier New"/>
              </a:rPr>
              <a:t>$ pnpm dev   →   api · web · ml + Postgres up in 10 seconds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1612"/>
                </a:solidFill>
                <a:latin typeface="Courier New"/>
              </a:rPr>
              <a:t>REEL 13 · END CREDITS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0" b="0" i="0" spc="-80">
                <a:solidFill>
                  <a:srgbClr val="1B1612"/>
                </a:solidFill>
                <a:latin typeface="Impact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1">
                <a:solidFill>
                  <a:srgbClr val="3D342A"/>
                </a:solidFill>
                <a:latin typeface="Georgia"/>
              </a:rPr>
              <a:t>questions  / 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3931920" cy="25400"/>
          </a:xfrm>
          <a:prstGeom prst="rect">
            <a:avLst/>
          </a:prstGeom>
          <a:solidFill>
            <a:srgbClr val="1B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 spc="200">
                <a:solidFill>
                  <a:srgbClr val="1B1612"/>
                </a:solidFill>
                <a:latin typeface="Courier New"/>
              </a:rPr>
              <a:t>Esma Oruç · 2022510140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 spc="200">
                <a:solidFill>
                  <a:srgbClr val="1B1612"/>
                </a:solidFill>
                <a:latin typeface="Courier New"/>
              </a:rPr>
              <a:t>Ayan Abasova · 2022510014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400">
                <a:solidFill>
                  <a:srgbClr val="3D342A"/>
                </a:solidFill>
                <a:latin typeface="Courier New"/>
              </a:rPr>
              <a:t>CINESENTIMENT  ·  CMP 4418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