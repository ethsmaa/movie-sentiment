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01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50">
                <a:solidFill>
                  <a:srgbClr val="9B2614"/>
                </a:solidFill>
                <a:latin typeface="Courier New"/>
              </a:rPr>
              <a:t>FINAL PROJECT   ·   CMP 4418   ·  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0" b="0" i="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612"/>
                </a:solidFill>
                <a:latin typeface="Helvetica"/>
              </a:rPr>
              <a:t>BERT-based Sentiment Analysis of Movie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3D342A"/>
                </a:solidFill>
                <a:latin typeface="Georgia"/>
              </a:rPr>
              <a:t>an end-to-end study from training to deployment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4023360"/>
            <a:ext cx="548640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42062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50">
                <a:solidFill>
                  <a:srgbClr val="9B2614"/>
                </a:solidFill>
                <a:latin typeface="Courier New"/>
              </a:rPr>
              <a:t>AUTHORS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B1612"/>
                </a:solidFill>
                <a:latin typeface="Helvetica"/>
              </a:rPr>
              <a:t>Esma Oruç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54456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spc="150">
                <a:solidFill>
                  <a:srgbClr val="3D342A"/>
                </a:solidFill>
                <a:latin typeface="Courier New"/>
              </a:rPr>
              <a:t>2022510140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B1612"/>
                </a:solidFill>
                <a:latin typeface="Helvetica"/>
              </a:rPr>
              <a:t>Ayan Abasova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95604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spc="150">
                <a:solidFill>
                  <a:srgbClr val="3D342A"/>
                </a:solidFill>
                <a:latin typeface="Courier New"/>
              </a:rPr>
              <a:t>2022510014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14640" y="4257040"/>
            <a:ext cx="3840480" cy="18288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4206240"/>
            <a:ext cx="3840480" cy="18288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43484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MODEL  / 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7548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B1612"/>
                </a:solidFill>
                <a:latin typeface="Helvetica"/>
              </a:rPr>
              <a:t>DistilBERT (fine-tuned)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1206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20">
                <a:solidFill>
                  <a:srgbClr val="3D342A"/>
                </a:solidFill>
                <a:latin typeface="Courier New"/>
              </a:rPr>
              <a:t>IMDB Large Movie Review · 50,000 labelled samples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38160" y="5486400"/>
            <a:ext cx="329184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38160" y="55778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 spc="120">
                <a:solidFill>
                  <a:srgbClr val="3D342A"/>
                </a:solidFill>
                <a:latin typeface="Courier New"/>
              </a:rPr>
              <a:t>Course instructor: &lt;TBD&gt;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02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00   ·   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Outline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Sections covered in this presentation.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788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Problem &amp; Motivation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32004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3246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461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Dataset Selection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36576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703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Stack &amp; Architecture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41148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41605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605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Data Preprocessing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45720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4617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177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Model: DistilBERT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50292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5074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074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Training Configuration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54864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9360" y="2788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788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Three-class Threshold Mapping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09360" y="32004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09360" y="3246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2461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Classification Results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09360" y="36576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09360" y="3703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7033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Inference Performance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09360" y="41148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09360" y="41605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1605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Demonstration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309360" y="45720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309360" y="4617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6177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Conclusion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309360" y="50292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09360" y="5074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07492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B1612"/>
                </a:solidFill>
                <a:latin typeface="Helvetica"/>
              </a:rPr>
              <a:t>References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309360" y="5486400"/>
            <a:ext cx="52578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03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01   ·  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Problem &amp;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Sentiment classification of free-form movie reviews.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743200"/>
            <a:ext cx="68580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>Sentiment classification of movie reviews is a long-standing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>benchmark task in natural language processing. The language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>involved is rich and challenging: irony, comparative statements,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>negation, and long enumerations of titles and actors are common.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>This project does not stop at a notebook experiment. It builds a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>complete end-to-end system around the model — training, model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>registry, inference service, type-safe API, and web interface —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>to study how a Transformer-based sentiment classifier behaves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>in a realistic deployment setting.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743200"/>
            <a:ext cx="4023360" cy="3108960"/>
          </a:xfrm>
          <a:prstGeom prst="rect">
            <a:avLst/>
          </a:prstGeom>
          <a:solidFill>
            <a:srgbClr val="1B1612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971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E8A23A"/>
                </a:solidFill>
                <a:latin typeface="Courier New"/>
              </a:rPr>
              <a:t>PROJECT IN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4290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E8A23A"/>
                </a:solidFill>
                <a:latin typeface="Impact"/>
              </a:rPr>
              <a:t>50,000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566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EFE5CD"/>
                </a:solidFill>
                <a:latin typeface="Courier New"/>
              </a:rPr>
              <a:t>labelled reviews (IMDB)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995928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E8A23A"/>
                </a:solidFill>
                <a:latin typeface="Impac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13308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EFE5CD"/>
                </a:solidFill>
                <a:latin typeface="Courier New"/>
              </a:rPr>
              <a:t>system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562856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E8A23A"/>
                </a:solidFill>
                <a:latin typeface="Impact"/>
              </a:rPr>
              <a:t>108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70001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EFE5CD"/>
                </a:solidFill>
                <a:latin typeface="Courier New"/>
              </a:rPr>
              <a:t>automated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12978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E8A23A"/>
                </a:solidFill>
                <a:latin typeface="Impac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52669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120">
                <a:solidFill>
                  <a:srgbClr val="EFE5CD"/>
                </a:solidFill>
                <a:latin typeface="Courier New"/>
              </a:rPr>
              <a:t>deployment targets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04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02   ·  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Dataset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Why IMDB 50k instead of live tweets.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95300" y="2781300"/>
            <a:ext cx="5486400" cy="356616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5486400" cy="356616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5486400" cy="101600"/>
          </a:xfrm>
          <a:prstGeom prst="rect">
            <a:avLst/>
          </a:prstGeom>
          <a:solidFill>
            <a:srgbClr val="9B2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71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INITIALLY PROPOSED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612"/>
                </a:solidFill>
                <a:latin typeface="Impact"/>
              </a:rPr>
              <a:t>Twitter (X)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D342A"/>
                </a:solidFill>
                <a:latin typeface="Helvetica"/>
              </a:rPr>
              <a:t>·  Free API was discontinued in early 2023.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D342A"/>
                </a:solidFill>
                <a:latin typeface="Helvetica"/>
              </a:rPr>
              <a:t>·  Lowest paid tier ≈ $100 / month.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D342A"/>
                </a:solidFill>
                <a:latin typeface="Helvetica"/>
              </a:rPr>
              <a:t>·  Raw tweets carry no sentiment labels.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D342A"/>
                </a:solidFill>
                <a:latin typeface="Helvetica"/>
              </a:rPr>
              <a:t>·  Self-labelling introduces rater bias.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1740" y="2781300"/>
            <a:ext cx="5486400" cy="356616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743200"/>
            <a:ext cx="5486400" cy="356616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743200"/>
            <a:ext cx="5486400" cy="101600"/>
          </a:xfrm>
          <a:prstGeom prst="rect">
            <a:avLst/>
          </a:prstGeom>
          <a:solidFill>
            <a:srgbClr val="3D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971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3D6B3A"/>
                </a:solidFill>
                <a:latin typeface="Courier New"/>
              </a:rPr>
              <a:t>SELECTED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9184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612"/>
                </a:solidFill>
                <a:latin typeface="Impact"/>
              </a:rPr>
              <a:t>IMDB 50k (Maas et al., 2011)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02336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D342A"/>
                </a:solidFill>
                <a:latin typeface="Helvetica"/>
              </a:rPr>
              <a:t>·  50,000 reviews — 25k train, 25k test.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52628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D342A"/>
                </a:solidFill>
                <a:latin typeface="Helvetica"/>
              </a:rPr>
              <a:t>·  Balanced 50 / 50 positive vs. negative.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2920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D342A"/>
                </a:solidFill>
                <a:latin typeface="Helvetica"/>
              </a:rPr>
              <a:t>·  Established benchmark in opinion mining.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53212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3D342A"/>
                </a:solidFill>
                <a:latin typeface="Helvetica"/>
              </a:rPr>
              <a:t>·  Predictions can be calibrated against truth.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05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03   ·   STACK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Stack and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Five system layers and the technologies on each.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87527" y="2872740"/>
            <a:ext cx="2148840" cy="233172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9427" y="2834640"/>
            <a:ext cx="2148840" cy="233172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427" y="2834640"/>
            <a:ext cx="2148840" cy="1270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307" y="315468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50">
                <a:solidFill>
                  <a:srgbClr val="E8A23A"/>
                </a:solidFill>
                <a:latin typeface="Courier New"/>
              </a:rPr>
              <a:t>Layer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" y="342900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B1612"/>
                </a:solidFill>
                <a:latin typeface="Impact"/>
              </a:rPr>
              <a:t>FRONTEND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2307" y="4069080"/>
            <a:ext cx="17830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2307" y="4206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1B1612"/>
                </a:solidFill>
                <a:latin typeface="Courier New"/>
              </a:rPr>
              <a:t>React · Vite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" y="46177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50">
                <a:solidFill>
                  <a:srgbClr val="3D342A"/>
                </a:solidFill>
                <a:latin typeface="Courier New"/>
              </a:rPr>
              <a:t>Tailwind · Zustand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3527" y="2872740"/>
            <a:ext cx="2148840" cy="233172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35427" y="2834640"/>
            <a:ext cx="2148840" cy="233172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35427" y="2834640"/>
            <a:ext cx="2148840" cy="127000"/>
          </a:xfrm>
          <a:prstGeom prst="rect">
            <a:avLst/>
          </a:prstGeom>
          <a:solidFill>
            <a:srgbClr val="9B2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18307" y="315468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50">
                <a:solidFill>
                  <a:srgbClr val="9B2614"/>
                </a:solidFill>
                <a:latin typeface="Courier New"/>
              </a:rPr>
              <a:t>Layer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8307" y="342900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B1612"/>
                </a:solidFill>
                <a:latin typeface="Impact"/>
              </a:rPr>
              <a:t>APP SERVER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18307" y="4069080"/>
            <a:ext cx="17830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18307" y="4206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1B1612"/>
                </a:solidFill>
                <a:latin typeface="Courier New"/>
              </a:rPr>
              <a:t>TypeScript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8307" y="46177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50">
                <a:solidFill>
                  <a:srgbClr val="3D342A"/>
                </a:solidFill>
                <a:latin typeface="Courier New"/>
              </a:rPr>
              <a:t>Hono · tRPC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59527" y="2872740"/>
            <a:ext cx="2148840" cy="233172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1427" y="2834640"/>
            <a:ext cx="2148840" cy="233172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1427" y="2834640"/>
            <a:ext cx="2148840" cy="127000"/>
          </a:xfrm>
          <a:prstGeom prst="rect">
            <a:avLst/>
          </a:prstGeom>
          <a:solidFill>
            <a:srgbClr val="2B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4307" y="315468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50">
                <a:solidFill>
                  <a:srgbClr val="2B8A8E"/>
                </a:solidFill>
                <a:latin typeface="Courier New"/>
              </a:rPr>
              <a:t>Layer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4307" y="342900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B1612"/>
                </a:solidFill>
                <a:latin typeface="Impact"/>
              </a:rPr>
              <a:t>INFERENCE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04307" y="4069080"/>
            <a:ext cx="17830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204307" y="4206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1B1612"/>
                </a:solidFill>
                <a:latin typeface="Courier New"/>
              </a:rPr>
              <a:t>FastAPI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4307" y="46177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50">
                <a:solidFill>
                  <a:srgbClr val="3D342A"/>
                </a:solidFill>
                <a:latin typeface="Courier New"/>
              </a:rPr>
              <a:t>Uvicorn · PyTorch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45527" y="2872740"/>
            <a:ext cx="2148840" cy="233172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07427" y="2834640"/>
            <a:ext cx="2148840" cy="233172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07427" y="2834640"/>
            <a:ext cx="2148840" cy="127000"/>
          </a:xfrm>
          <a:prstGeom prst="rect">
            <a:avLst/>
          </a:prstGeom>
          <a:solidFill>
            <a:srgbClr val="3D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0307" y="315468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50">
                <a:solidFill>
                  <a:srgbClr val="3D6B3A"/>
                </a:solidFill>
                <a:latin typeface="Courier New"/>
              </a:rPr>
              <a:t>Layer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0307" y="342900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B1612"/>
                </a:solidFill>
                <a:latin typeface="Impact"/>
              </a:rPr>
              <a:t>MODEL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90307" y="4069080"/>
            <a:ext cx="17830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490307" y="4206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1B1612"/>
                </a:solidFill>
                <a:latin typeface="Courier New"/>
              </a:rPr>
              <a:t>DistilBERT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0307" y="46177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50">
                <a:solidFill>
                  <a:srgbClr val="3D342A"/>
                </a:solidFill>
                <a:latin typeface="Courier New"/>
              </a:rPr>
              <a:t>HuggingFace Hub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31527" y="2872740"/>
            <a:ext cx="2148840" cy="233172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93427" y="2834640"/>
            <a:ext cx="2148840" cy="233172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93427" y="2834640"/>
            <a:ext cx="2148840" cy="127000"/>
          </a:xfrm>
          <a:prstGeom prst="rect">
            <a:avLst/>
          </a:prstGeom>
          <a:solidFill>
            <a:srgbClr val="6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76307" y="315468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250">
                <a:solidFill>
                  <a:srgbClr val="6B3A8A"/>
                </a:solidFill>
                <a:latin typeface="Courier New"/>
              </a:rPr>
              <a:t>Layer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6307" y="342900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B1612"/>
                </a:solidFill>
                <a:latin typeface="Impact"/>
              </a:rPr>
              <a:t>DATABASE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776307" y="4069080"/>
            <a:ext cx="17830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776307" y="42062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1B1612"/>
                </a:solidFill>
                <a:latin typeface="Courier New"/>
              </a:rPr>
              <a:t>PostgreSQL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76307" y="46177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150">
                <a:solidFill>
                  <a:srgbClr val="3D342A"/>
                </a:solidFill>
                <a:latin typeface="Courier New"/>
              </a:rPr>
              <a:t>Prisma ORM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532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3D342A"/>
                </a:solidFill>
                <a:latin typeface="Georgia"/>
              </a:rPr>
              <a:t>Python carries the model and inference; TypeScript carries the API and the interface; PostgreSQL stores predictions in between.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06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04   ·  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Data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From raw HTML reviews to model-ready tensors.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2743200"/>
            <a:ext cx="11247120" cy="521208"/>
          </a:xfrm>
          <a:prstGeom prst="rect">
            <a:avLst/>
          </a:prstGeom>
          <a:solidFill>
            <a:srgbClr val="F7EFD9"/>
          </a:solidFill>
          <a:ln w="6350">
            <a:solidFill>
              <a:srgbClr val="3D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91440" cy="521208"/>
          </a:xfrm>
          <a:prstGeom prst="rect">
            <a:avLst/>
          </a:prstGeom>
          <a:solidFill>
            <a:srgbClr val="9B2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620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9B2614"/>
                </a:solidFill>
                <a:latin typeface="Courier New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B1612"/>
                </a:solidFill>
                <a:latin typeface="Impact"/>
              </a:rPr>
              <a:t>HTML cleanup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86207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342A"/>
                </a:solidFill>
                <a:latin typeface="Helvetica"/>
              </a:rPr>
              <a:t>Remove &lt;br /&gt; markup and residual tags; normalise whitespace.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10128"/>
            <a:ext cx="11247120" cy="521208"/>
          </a:xfrm>
          <a:prstGeom prst="rect">
            <a:avLst/>
          </a:prstGeom>
          <a:solidFill>
            <a:srgbClr val="F7EFD9"/>
          </a:solidFill>
          <a:ln w="6350">
            <a:solidFill>
              <a:srgbClr val="3D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10128"/>
            <a:ext cx="91440" cy="521208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29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E8A23A"/>
                </a:solidFill>
                <a:latin typeface="Courier New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0156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B1612"/>
                </a:solidFill>
                <a:latin typeface="Impact"/>
              </a:rPr>
              <a:t>Tokenisation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4290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342A"/>
                </a:solidFill>
                <a:latin typeface="Helvetica"/>
              </a:rPr>
              <a:t>WordPiece tokenizer (distilbert-base-uncased), case-folded.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77056"/>
            <a:ext cx="11247120" cy="521208"/>
          </a:xfrm>
          <a:prstGeom prst="rect">
            <a:avLst/>
          </a:prstGeom>
          <a:solidFill>
            <a:srgbClr val="F7EFD9"/>
          </a:solidFill>
          <a:ln w="6350">
            <a:solidFill>
              <a:srgbClr val="3D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77056"/>
            <a:ext cx="91440" cy="521208"/>
          </a:xfrm>
          <a:prstGeom prst="rect">
            <a:avLst/>
          </a:prstGeom>
          <a:solidFill>
            <a:srgbClr val="2B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959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2B8A8E"/>
                </a:solidFill>
                <a:latin typeface="Courier New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6849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B1612"/>
                </a:solidFill>
                <a:latin typeface="Impact"/>
              </a:rPr>
              <a:t>Truncation &amp; padding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99592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342A"/>
                </a:solidFill>
                <a:latin typeface="Helvetica"/>
              </a:rPr>
              <a:t>Sequences capped at 256 tokens; &gt; 90% of reviews remain intact.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43984"/>
            <a:ext cx="11247120" cy="521208"/>
          </a:xfrm>
          <a:prstGeom prst="rect">
            <a:avLst/>
          </a:prstGeom>
          <a:solidFill>
            <a:srgbClr val="F7EFD9"/>
          </a:solidFill>
          <a:ln w="6350">
            <a:solidFill>
              <a:srgbClr val="3D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443984"/>
            <a:ext cx="91440" cy="521208"/>
          </a:xfrm>
          <a:prstGeom prst="rect">
            <a:avLst/>
          </a:prstGeom>
          <a:solidFill>
            <a:srgbClr val="3D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628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3D6B3A"/>
                </a:solidFill>
                <a:latin typeface="Courier New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5354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B1612"/>
                </a:solidFill>
                <a:latin typeface="Impact"/>
              </a:rPr>
              <a:t>Splits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56285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342A"/>
                </a:solidFill>
                <a:latin typeface="Helvetica"/>
              </a:rPr>
              <a:t>25,000 train · 25,000 test, both balanced 50 / 50.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10912"/>
            <a:ext cx="11247120" cy="521208"/>
          </a:xfrm>
          <a:prstGeom prst="rect">
            <a:avLst/>
          </a:prstGeom>
          <a:solidFill>
            <a:srgbClr val="F7EFD9"/>
          </a:solidFill>
          <a:ln w="6350">
            <a:solidFill>
              <a:srgbClr val="3D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010912"/>
            <a:ext cx="91440" cy="521208"/>
          </a:xfrm>
          <a:prstGeom prst="rect">
            <a:avLst/>
          </a:prstGeom>
          <a:solidFill>
            <a:srgbClr val="6B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297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6B3A8A"/>
                </a:solidFill>
                <a:latin typeface="Courier New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1023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B1612"/>
                </a:solidFill>
                <a:latin typeface="Impact"/>
              </a:rPr>
              <a:t>Batching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12978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342A"/>
                </a:solidFill>
                <a:latin typeface="Helvetica"/>
              </a:rPr>
              <a:t>Dynamic padding within batches; PyTorch DataLoader, batch size 16.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07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05   ·  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DistilBERT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A distilled Transformer for binary sentiment classification.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78892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1612"/>
                </a:solidFill>
                <a:latin typeface="Helvetica"/>
              </a:rPr>
              <a:t>DistilBERT (Sanh et al., 2019) is a distilled variant of BERT-base,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1612"/>
                </a:solidFill>
                <a:latin typeface="Helvetica"/>
              </a:rPr>
              <a:t>obtained by knowledge distillation from a BERT-base teacher.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1612"/>
                </a:solidFill>
                <a:latin typeface="Helvetica"/>
              </a:rPr>
              <a:t>It retains roughly 97% of BERT-base's GLUE performance while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1612"/>
                </a:solidFill>
                <a:latin typeface="Helvetica"/>
              </a:rPr>
              <a:t>using approximately 40% fewer parameters and running about 60%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1612"/>
                </a:solidFill>
                <a:latin typeface="Helvetica"/>
              </a:rPr>
              <a:t>faster at inference time.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1612"/>
                </a:solidFill>
                <a:latin typeface="Helvetica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1612"/>
                </a:solidFill>
                <a:latin typeface="Helvetica"/>
              </a:rPr>
              <a:t>For this task we attach a single linear classification head on the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1612"/>
                </a:solidFill>
                <a:latin typeface="Helvetica"/>
              </a:rPr>
              <a:t>[CLS] token's contextual embedding and fine-tune end-to-end on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1612"/>
                </a:solidFill>
                <a:latin typeface="Helvetica"/>
              </a:rPr>
              <a:t>the IMDB training split.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53300" y="2827020"/>
            <a:ext cx="4389120" cy="333756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2788920"/>
            <a:ext cx="4389120" cy="333756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0175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4290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Transformer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4290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0" y="3721608"/>
            <a:ext cx="38404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89520" y="3794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Attention heads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7947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12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89520" y="4087368"/>
            <a:ext cx="38404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89520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Hidden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1605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768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0" y="4453128"/>
            <a:ext cx="38404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0" y="4526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Total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52628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66 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20" y="4818888"/>
            <a:ext cx="38404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89520" y="48920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Max sequence length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8920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256 tokens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89520" y="5184648"/>
            <a:ext cx="38404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89520" y="5257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Classification 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257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Linear on [CLS]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589520" y="5550408"/>
            <a:ext cx="38404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589520" y="56235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Output classes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56235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2  (positive / negative)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89520" y="5916168"/>
            <a:ext cx="384048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08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06   ·  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Training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Hyperparameters and hardware used for fine-tuning.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95300" y="2781300"/>
            <a:ext cx="5486400" cy="352044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5486400" cy="352044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5486400" cy="101600"/>
          </a:xfrm>
          <a:prstGeom prst="rect">
            <a:avLst/>
          </a:prstGeom>
          <a:solidFill>
            <a:srgbClr val="9B2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71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HYPERPARAMETERS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Optimiser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83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AdamW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69417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794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Learning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794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2 × 10⁻⁵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410565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Weight decay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206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0.01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51713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4617719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Warm-up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61771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500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1520" y="4928615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50292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Batch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16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" y="534009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31520" y="5440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Epochs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440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" y="575157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0" y="5852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5852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9B2614"/>
                </a:solidFill>
                <a:latin typeface="Courier New"/>
              </a:rPr>
              <a:t>Cross-entropy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31520" y="616305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301740" y="2781300"/>
            <a:ext cx="5486400" cy="352044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2743200"/>
            <a:ext cx="5486400" cy="352044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743200"/>
            <a:ext cx="5486400" cy="101600"/>
          </a:xfrm>
          <a:prstGeom prst="rect">
            <a:avLst/>
          </a:prstGeom>
          <a:solidFill>
            <a:srgbClr val="3D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29718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3D6B3A"/>
                </a:solidFill>
                <a:latin typeface="Courier New"/>
              </a:rPr>
              <a:t>HARDWARE &amp; RUNTIME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3383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GPU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3383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3D6B3A"/>
                </a:solidFill>
                <a:latin typeface="Courier New"/>
              </a:rPr>
              <a:t>NVIDIA T4 (Colab)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37960" y="369417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37960" y="3794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Framework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3794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3D6B3A"/>
                </a:solidFill>
                <a:latin typeface="Courier New"/>
              </a:rPr>
              <a:t>PyTorch + HF Trainer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37960" y="410565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37960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Mixed precision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42062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3D6B3A"/>
                </a:solidFill>
                <a:latin typeface="Courier New"/>
              </a:rPr>
              <a:t>fp16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37960" y="451713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537960" y="4617719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Training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461771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3D6B3A"/>
                </a:solidFill>
                <a:latin typeface="Courier New"/>
              </a:rPr>
              <a:t>≈ 2 hours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37960" y="4928615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37960" y="50292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Checkpointing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15400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3D6B3A"/>
                </a:solidFill>
                <a:latin typeface="Courier New"/>
              </a:rPr>
              <a:t>best on eval loss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537960" y="534009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537960" y="5440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Inference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0" y="5440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3D6B3A"/>
                </a:solidFill>
                <a:latin typeface="Courier New"/>
              </a:rPr>
              <a:t>Apple Silicon · MPS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537960" y="575157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37960" y="5852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Helvetica"/>
              </a:rPr>
              <a:t>Distribution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15400" y="5852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120">
                <a:solidFill>
                  <a:srgbClr val="3D6B3A"/>
                </a:solidFill>
                <a:latin typeface="Courier New"/>
              </a:rPr>
              <a:t>Hugging Face Hub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537960" y="6163056"/>
            <a:ext cx="493776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09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07   ·   DESIGN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Three-class threshold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Mapping a binary classifier to a three-class user interface.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6974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B1612"/>
                </a:solidFill>
                <a:latin typeface="Helvetica"/>
              </a:rPr>
              <a:t>The model is binary. The interface needs three classes. A confidence-based mapping is applied at the application layer: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300" y="3329940"/>
            <a:ext cx="3657600" cy="265176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3657600" cy="265176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3657600" cy="101600"/>
          </a:xfrm>
          <a:prstGeom prst="rect">
            <a:avLst/>
          </a:prstGeom>
          <a:solidFill>
            <a:srgbClr val="3D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20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3D6B3A"/>
                </a:solidFill>
                <a:latin typeface="Courier New"/>
              </a:rPr>
              <a:t>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86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612"/>
                </a:solidFill>
                <a:latin typeface="Impact"/>
              </a:rPr>
              <a:t>p₊  ≥  0.65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663440"/>
            <a:ext cx="32004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800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3D6B3A"/>
                </a:solidFill>
                <a:latin typeface="Impact"/>
              </a:rPr>
              <a:t>POSITIVE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0060" y="3329940"/>
            <a:ext cx="3657600" cy="265176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291840"/>
            <a:ext cx="3657600" cy="265176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291840"/>
            <a:ext cx="3657600" cy="101600"/>
          </a:xfrm>
          <a:prstGeom prst="rect">
            <a:avLst/>
          </a:prstGeom>
          <a:solidFill>
            <a:srgbClr val="8A6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520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8A6A3A"/>
                </a:solidFill>
                <a:latin typeface="Courier New"/>
              </a:rPr>
              <a:t>CONDITION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886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612"/>
                </a:solidFill>
                <a:latin typeface="Impact"/>
              </a:rPr>
              <a:t>0.35  &lt;  p₊  &lt;  0.65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80560" y="4663440"/>
            <a:ext cx="32004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80560" y="4800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749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8A6A3A"/>
                </a:solidFill>
                <a:latin typeface="Impact"/>
              </a:rPr>
              <a:t>NEUTRAL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4820" y="3329940"/>
            <a:ext cx="3657600" cy="265176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291840"/>
            <a:ext cx="3657600" cy="265176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291840"/>
            <a:ext cx="3657600" cy="101600"/>
          </a:xfrm>
          <a:prstGeom prst="rect">
            <a:avLst/>
          </a:prstGeom>
          <a:solidFill>
            <a:srgbClr val="9B2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5204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CONDITION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886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612"/>
                </a:solidFill>
                <a:latin typeface="Impact"/>
              </a:rPr>
              <a:t>p₊  ≤  0.35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75320" y="4663440"/>
            <a:ext cx="320040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75320" y="4800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PREDICTION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50749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9B2614"/>
                </a:solidFill>
                <a:latin typeface="Impact"/>
              </a:rPr>
              <a:t>NEGATIVE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7A1C10"/>
                </a:solidFill>
                <a:latin typeface="Georgia"/>
              </a:rPr>
              <a:t>Note: this is a heuristic, not a learned three-class classifier; the rule is surfaced in the in-app model card.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10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08   ·  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Classification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Held-out evaluation on the IMDB test split (25,000 reviews).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1807" y="2735580"/>
            <a:ext cx="2743200" cy="16002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3707" y="2697480"/>
            <a:ext cx="2743200" cy="16002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3707" y="2697480"/>
            <a:ext cx="2743200" cy="101600"/>
          </a:xfrm>
          <a:prstGeom prst="rect">
            <a:avLst/>
          </a:prstGeom>
          <a:solidFill>
            <a:srgbClr val="3D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587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3D6B3A"/>
                </a:solidFill>
                <a:latin typeface="Courier New"/>
              </a:rP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587" y="33375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0" i="0">
                <a:solidFill>
                  <a:srgbClr val="1B1612"/>
                </a:solidFill>
                <a:latin typeface="Impact"/>
              </a:rPr>
              <a:t>0.9151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2167" y="2735580"/>
            <a:ext cx="2743200" cy="16002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84067" y="2697480"/>
            <a:ext cx="2743200" cy="16002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84067" y="2697480"/>
            <a:ext cx="2743200" cy="101600"/>
          </a:xfrm>
          <a:prstGeom prst="rect">
            <a:avLst/>
          </a:prstGeom>
          <a:solidFill>
            <a:srgbClr val="9B2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6947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Weighted 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6947" y="33375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0" i="0">
                <a:solidFill>
                  <a:srgbClr val="1B1612"/>
                </a:solidFill>
                <a:latin typeface="Impact"/>
              </a:rPr>
              <a:t>0.9151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2527" y="2735580"/>
            <a:ext cx="2743200" cy="16002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4427" y="2697480"/>
            <a:ext cx="2743200" cy="16002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4427" y="2697480"/>
            <a:ext cx="2743200" cy="1016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7307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E8A23A"/>
                </a:solidFill>
                <a:latin typeface="Courier New"/>
              </a:rPr>
              <a:t>Eval reviews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7307" y="33375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0" i="0">
                <a:solidFill>
                  <a:srgbClr val="1B1612"/>
                </a:solidFill>
                <a:latin typeface="Impact"/>
              </a:rPr>
              <a:t>25,000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82887" y="2735580"/>
            <a:ext cx="2743200" cy="16002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4787" y="2697480"/>
            <a:ext cx="2743200" cy="16002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44787" y="2697480"/>
            <a:ext cx="2743200" cy="101600"/>
          </a:xfrm>
          <a:prstGeom prst="rect">
            <a:avLst/>
          </a:prstGeom>
          <a:solidFill>
            <a:srgbClr val="2B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27667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2B8A8E"/>
                </a:solidFill>
                <a:latin typeface="Courier New"/>
              </a:rPr>
              <a:t>Total corpus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7667" y="33375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0" i="0">
                <a:solidFill>
                  <a:srgbClr val="1B1612"/>
                </a:solidFill>
                <a:latin typeface="Impact"/>
              </a:rPr>
              <a:t>50,000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50">
                <a:solidFill>
                  <a:srgbClr val="9B2614"/>
                </a:solidFill>
                <a:latin typeface="Courier New"/>
              </a:rPr>
              <a:t>Per-class metrics  ·  IMDB test 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11247120" cy="384048"/>
          </a:xfrm>
          <a:prstGeom prst="rect">
            <a:avLst/>
          </a:prstGeom>
          <a:solidFill>
            <a:srgbClr val="1B1612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749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E8A23A"/>
                </a:solidFill>
                <a:latin typeface="Courier New"/>
              </a:rPr>
              <a:t>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0749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E8A23A"/>
                </a:solidFill>
                <a:latin typeface="Courier New"/>
              </a:rPr>
              <a:t>PRECISION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0749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E8A23A"/>
                </a:solidFill>
                <a:latin typeface="Courier New"/>
              </a:rPr>
              <a:t>RECALL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0749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E8A23A"/>
                </a:solidFill>
                <a:latin typeface="Courier New"/>
              </a:rPr>
              <a:t>F1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50749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200">
                <a:solidFill>
                  <a:srgbClr val="E8A23A"/>
                </a:solidFill>
                <a:latin typeface="Courier New"/>
              </a:rPr>
              <a:t>SUPPORT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67528"/>
            <a:ext cx="11247120" cy="384048"/>
          </a:xfrm>
          <a:prstGeom prst="rect">
            <a:avLst/>
          </a:prstGeom>
          <a:solidFill>
            <a:srgbClr val="F7EFD9"/>
          </a:solidFill>
          <a:ln w="6350">
            <a:solidFill>
              <a:srgbClr val="3D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" y="5477256"/>
            <a:ext cx="146304" cy="146304"/>
          </a:xfrm>
          <a:prstGeom prst="ellipse">
            <a:avLst/>
          </a:prstGeom>
          <a:solidFill>
            <a:srgbClr val="3D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4589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1612"/>
                </a:solidFill>
                <a:latin typeface="Helvetica"/>
              </a:rPr>
              <a:t>Positive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54589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Courier New"/>
              </a:rPr>
              <a:t>0.912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4589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Courier New"/>
              </a:rPr>
              <a:t>0.919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4589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1612"/>
                </a:solidFill>
                <a:latin typeface="Courier New"/>
              </a:rPr>
              <a:t>0.915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54589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342A"/>
                </a:solidFill>
                <a:latin typeface="Courier New"/>
              </a:rPr>
              <a:t>12,500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751576"/>
            <a:ext cx="11247120" cy="384048"/>
          </a:xfrm>
          <a:prstGeom prst="rect">
            <a:avLst/>
          </a:prstGeom>
          <a:solidFill>
            <a:srgbClr val="F7EFD9"/>
          </a:solidFill>
          <a:ln w="6350">
            <a:solidFill>
              <a:srgbClr val="3D3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0080" y="5861304"/>
            <a:ext cx="146304" cy="146304"/>
          </a:xfrm>
          <a:prstGeom prst="ellipse">
            <a:avLst/>
          </a:prstGeom>
          <a:solidFill>
            <a:srgbClr val="9B2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8430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1612"/>
                </a:solidFill>
                <a:latin typeface="Helvetica"/>
              </a:rPr>
              <a:t>Negative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58430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Courier New"/>
              </a:rPr>
              <a:t>0.918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58430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B1612"/>
                </a:solidFill>
                <a:latin typeface="Courier New"/>
              </a:rPr>
              <a:t>0.912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8430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1612"/>
                </a:solidFill>
                <a:latin typeface="Courier New"/>
              </a:rPr>
              <a:t>0.915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584301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342A"/>
                </a:solidFill>
                <a:latin typeface="Courier New"/>
              </a:rPr>
              <a:t>12,500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11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09   ·  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Inference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Latency, throughput, and observed label distribution.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0387" y="2827020"/>
            <a:ext cx="3657600" cy="18288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2287" y="2788920"/>
            <a:ext cx="3657600" cy="18288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2287" y="2788920"/>
            <a:ext cx="3657600" cy="101600"/>
          </a:xfrm>
          <a:prstGeom prst="rect">
            <a:avLst/>
          </a:prstGeom>
          <a:solidFill>
            <a:srgbClr val="9B2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607" y="3063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1B1612"/>
                </a:solidFill>
                <a:latin typeface="Courier New"/>
              </a:rPr>
              <a:t>Median, single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07" y="34290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0" i="0">
                <a:solidFill>
                  <a:srgbClr val="1B1612"/>
                </a:solidFill>
                <a:latin typeface="Impact"/>
              </a:rPr>
              <a:t>50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607" y="4206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3D342A"/>
                </a:solidFill>
                <a:latin typeface="Helvetica"/>
              </a:rPr>
              <a:t>Apple Silicon · MPS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5147" y="2827020"/>
            <a:ext cx="3657600" cy="18288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7047" y="2788920"/>
            <a:ext cx="3657600" cy="18288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7047" y="2788920"/>
            <a:ext cx="3657600" cy="1016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1367" y="3063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1B1612"/>
                </a:solidFill>
                <a:latin typeface="Courier New"/>
              </a:rPr>
              <a:t>Batch of 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367" y="34290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0" i="0">
                <a:solidFill>
                  <a:srgbClr val="1B1612"/>
                </a:solidFill>
                <a:latin typeface="Impact"/>
              </a:rPr>
              <a:t>380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1367" y="4206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3D342A"/>
                </a:solidFill>
                <a:latin typeface="Helvetica"/>
              </a:rPr>
              <a:t>≈ 6 ms per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9907" y="2827020"/>
            <a:ext cx="3657600" cy="18288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1807" y="2788920"/>
            <a:ext cx="3657600" cy="18288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1807" y="2788920"/>
            <a:ext cx="3657600" cy="101600"/>
          </a:xfrm>
          <a:prstGeom prst="rect">
            <a:avLst/>
          </a:prstGeom>
          <a:solidFill>
            <a:srgbClr val="3D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6127" y="3063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1B1612"/>
                </a:solidFill>
                <a:latin typeface="Courier New"/>
              </a:rPr>
              <a:t>Training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6127" y="34290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0" i="0">
                <a:solidFill>
                  <a:srgbClr val="1B1612"/>
                </a:solidFill>
                <a:latin typeface="Impact"/>
              </a:rPr>
              <a:t>3 epochs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6127" y="4206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3D342A"/>
                </a:solidFill>
                <a:latin typeface="Helvetica"/>
              </a:rPr>
              <a:t>≈ 2 h on a Colab T4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50">
                <a:solidFill>
                  <a:srgbClr val="9B2614"/>
                </a:solidFill>
                <a:latin typeface="Courier New"/>
              </a:rPr>
              <a:t>Observed label distribution  ·  catalogue of 346 reviews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7872983" cy="457200"/>
          </a:xfrm>
          <a:prstGeom prst="rect">
            <a:avLst/>
          </a:prstGeom>
          <a:solidFill>
            <a:srgbClr val="3D6B3A"/>
          </a:solidFill>
          <a:ln w="1524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30183" y="5440680"/>
            <a:ext cx="1912010" cy="457200"/>
          </a:xfrm>
          <a:prstGeom prst="rect">
            <a:avLst/>
          </a:prstGeom>
          <a:solidFill>
            <a:srgbClr val="8A6A3A"/>
          </a:solidFill>
          <a:ln w="1524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42193" y="5440680"/>
            <a:ext cx="1462125" cy="457200"/>
          </a:xfrm>
          <a:prstGeom prst="rect">
            <a:avLst/>
          </a:prstGeom>
          <a:solidFill>
            <a:srgbClr val="9B2614"/>
          </a:solidFill>
          <a:ln w="1524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5595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EFE5CD"/>
                </a:solidFill>
                <a:latin typeface="Courier New"/>
              </a:rPr>
              <a:t>Positive  ·  70 %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3" y="55595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EFE5CD"/>
                </a:solidFill>
                <a:latin typeface="Courier New"/>
              </a:rPr>
              <a:t>Neutral  ·  17 %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913" y="555955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EFE5CD"/>
                </a:solidFill>
                <a:latin typeface="Courier New"/>
              </a:rPr>
              <a:t>Neg.  ·  13 %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12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10   ·  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Live walk-through of the deployed system.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1612"/>
                </a:solidFill>
                <a:latin typeface="Helvetica"/>
              </a:rPr>
              <a:t>The demonstration covers the four primary screens of the application: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1807" y="3558540"/>
            <a:ext cx="2743200" cy="18288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3707" y="3520440"/>
            <a:ext cx="2743200" cy="18288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3707" y="3520440"/>
            <a:ext cx="73152" cy="1828800"/>
          </a:xfrm>
          <a:prstGeom prst="rect">
            <a:avLst/>
          </a:prstGeom>
          <a:solidFill>
            <a:srgbClr val="9B2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307" y="3749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50">
                <a:solidFill>
                  <a:srgbClr val="9B2614"/>
                </a:solidFill>
                <a:latin typeface="Courier New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612"/>
                </a:solidFill>
                <a:latin typeface="Impact"/>
              </a:rPr>
              <a:t>Catalogue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307" y="4617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3D342A"/>
                </a:solidFill>
                <a:latin typeface="Helvetica"/>
              </a:rPr>
              <a:t>browse all movies in the 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2167" y="3558540"/>
            <a:ext cx="2743200" cy="18288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84067" y="3520440"/>
            <a:ext cx="2743200" cy="18288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84067" y="3520440"/>
            <a:ext cx="73152" cy="1828800"/>
          </a:xfrm>
          <a:prstGeom prst="rect">
            <a:avLst/>
          </a:prstGeom>
          <a:solidFill>
            <a:srgbClr val="E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12667" y="3749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50">
                <a:solidFill>
                  <a:srgbClr val="E8A23A"/>
                </a:solidFill>
                <a:latin typeface="Courier New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2667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612"/>
                </a:solidFill>
                <a:latin typeface="Impact"/>
              </a:rPr>
              <a:t>Detail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2667" y="4617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3D342A"/>
                </a:solidFill>
                <a:latin typeface="Helvetica"/>
              </a:rPr>
              <a:t>hype meter, top reviews, signal words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2527" y="3558540"/>
            <a:ext cx="2743200" cy="18288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4427" y="3520440"/>
            <a:ext cx="2743200" cy="18288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64427" y="3520440"/>
            <a:ext cx="73152" cy="1828800"/>
          </a:xfrm>
          <a:prstGeom prst="rect">
            <a:avLst/>
          </a:prstGeom>
          <a:solidFill>
            <a:srgbClr val="2B8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3027" y="3749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50">
                <a:solidFill>
                  <a:srgbClr val="2B8A8E"/>
                </a:solidFill>
                <a:latin typeface="Courier New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3027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612"/>
                </a:solidFill>
                <a:latin typeface="Impact"/>
              </a:rPr>
              <a:t>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3027" y="4617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3D342A"/>
                </a:solidFill>
                <a:latin typeface="Helvetica"/>
              </a:rPr>
              <a:t>accuracy, F1, confusion matrix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82887" y="3558540"/>
            <a:ext cx="2743200" cy="182880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44787" y="3520440"/>
            <a:ext cx="2743200" cy="182880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4787" y="3520440"/>
            <a:ext cx="73152" cy="1828800"/>
          </a:xfrm>
          <a:prstGeom prst="rect">
            <a:avLst/>
          </a:prstGeom>
          <a:solidFill>
            <a:srgbClr val="3D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3387" y="3749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50">
                <a:solidFill>
                  <a:srgbClr val="3D6B3A"/>
                </a:solidFill>
                <a:latin typeface="Courier New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3387" y="4114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B1612"/>
                </a:solidFill>
                <a:latin typeface="Impact"/>
              </a:rPr>
              <a:t>Analyser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3387" y="46177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3D342A"/>
                </a:solidFill>
                <a:latin typeface="Helvetica"/>
              </a:rPr>
              <a:t>type any sentence, see live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13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11   ·  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Summary of contributions.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9B2614"/>
                </a:solidFill>
                <a:latin typeface="Impact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88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B1612"/>
                </a:solidFill>
                <a:latin typeface="Impact"/>
              </a:rPr>
              <a:t>End-to-end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52928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D342A"/>
                </a:solidFill>
                <a:latin typeface="Helvetica"/>
              </a:rPr>
              <a:t>A four-layer deployment — training pipeline, model registry, inference service, type-safe API, and React interface — built around a single fine-tuned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118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E8A23A"/>
                </a:solidFill>
                <a:latin typeface="Impact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B1612"/>
                </a:solidFill>
                <a:latin typeface="Impact"/>
              </a:rPr>
              <a:t>Fine-tuned DistilBERT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21608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D342A"/>
                </a:solidFill>
                <a:latin typeface="Helvetica"/>
              </a:rPr>
              <a:t>Trained on IMDB 50k for binary sentiment classification, reaching 0.9151 accuracy and 0.9151 weighted F1 on the held-out test 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B8A8E"/>
                </a:solidFill>
                <a:latin typeface="Impact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B1612"/>
                </a:solidFill>
                <a:latin typeface="Impact"/>
              </a:rPr>
              <a:t>Honest three-class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90288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D342A"/>
                </a:solidFill>
                <a:latin typeface="Helvetica"/>
              </a:rPr>
              <a:t>Binary predictions are surfaced as three classes via an explicit, documented confidence threshold rather than an opaque heuristic.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3D6B3A"/>
                </a:solidFill>
                <a:latin typeface="Impact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94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B1612"/>
                </a:solidFill>
                <a:latin typeface="Impact"/>
              </a:rPr>
              <a:t>Reproducible 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58968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D342A"/>
                </a:solidFill>
                <a:latin typeface="Helvetica"/>
              </a:rPr>
              <a:t>Trained weights are published on Hugging Face Hub under a fixed model version and used directly by the inference service.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14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12   ·  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Primary works informing this project.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27432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9B2614"/>
                </a:solidFill>
                <a:latin typeface="Courier New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Devlin, J., Chang, M.-W., Lee, K., &amp; Toutanova, K. (2019). BERT: Pre-training of Deep Bidirectional Transformers for Language Understanding. NAACL.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3200400"/>
            <a:ext cx="1124712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33101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9B2614"/>
                </a:solidFill>
                <a:latin typeface="Courier New"/>
              </a:rPr>
              <a:t>[2]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1012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Sanh, V., Debut, L., Chaumond, J., &amp; Wolf, T. (2019). DistilBERT, a distilled version of BERT: smaller, faster, cheaper and lighter. NeurIPS EMC² Workshop.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3767328"/>
            <a:ext cx="1124712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87705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9B2614"/>
                </a:solidFill>
                <a:latin typeface="Courier New"/>
              </a:rPr>
              <a:t>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77056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Maas, A. L., Daly, R. E., Pham, P. T., Huang, D., Ng, A. Y., &amp; Potts, C. (2011). Learning Word Vectors for Sentiment Analysis. ACL.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4334256"/>
            <a:ext cx="1124712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44439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9B2614"/>
                </a:solidFill>
                <a:latin typeface="Courier New"/>
              </a:rPr>
              <a:t>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43984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Vaswani, A., Shazeer, N., Parmar, N., Uszkoreit, J., Jones, L., Gomez, A. N., Kaiser, L., &amp; Polosukhin, I. (2017). Attention Is All You Need. NeurIPS.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4901184"/>
            <a:ext cx="1124712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50109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9B2614"/>
                </a:solidFill>
                <a:latin typeface="Courier New"/>
              </a:rPr>
              <a:t>[5]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1091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Wolf, T. et al. (2020). Transformers: State-of-the-Art Natural Language Processing. EMNLP — System Demonstrations.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5468112"/>
            <a:ext cx="1124712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5577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150">
                <a:solidFill>
                  <a:srgbClr val="9B2614"/>
                </a:solidFill>
                <a:latin typeface="Courier New"/>
              </a:rPr>
              <a:t>[6]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778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B1612"/>
                </a:solidFill>
                <a:latin typeface="Helvetica"/>
              </a:rPr>
              <a:t>Paszke, A. et al. (2019). PyTorch: An Imperative Style, High-Performance Deep Learning Library. NeurIPS.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035040"/>
            <a:ext cx="1124712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20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3774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3D342A"/>
                </a:solidFill>
                <a:latin typeface="Courier New"/>
              </a:rPr>
              <a:t>CMP 4418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3774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 spc="200">
                <a:solidFill>
                  <a:srgbClr val="9B2614"/>
                </a:solidFill>
                <a:latin typeface="Courier New"/>
              </a:rPr>
              <a:t>15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Esma Oruç  ·  Ayan Abasova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spc="150">
                <a:solidFill>
                  <a:srgbClr val="3D342A"/>
                </a:solidFill>
                <a:latin typeface="Courier New"/>
              </a:rPr>
              <a:t>Dokuz Eylül University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50">
                <a:solidFill>
                  <a:srgbClr val="9B2614"/>
                </a:solidFill>
                <a:latin typeface="Courier New"/>
              </a:rPr>
              <a:t>§ —   ·  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3D342A"/>
                </a:solidFill>
                <a:latin typeface="Georgia"/>
              </a:rPr>
              <a:t>Thank you for your attention.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542032"/>
            <a:ext cx="11247120" cy="0"/>
          </a:xfrm>
          <a:prstGeom prst="line">
            <a:avLst/>
          </a:prstGeom>
          <a:ln w="12700">
            <a:solidFill>
              <a:srgbClr val="1B1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8000" y="3251200"/>
            <a:ext cx="11247120" cy="2377440"/>
          </a:xfrm>
          <a:prstGeom prst="rect">
            <a:avLst/>
          </a:prstGeom>
          <a:solidFill>
            <a:srgbClr val="1B1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1247120" cy="2377440"/>
          </a:xfrm>
          <a:prstGeom prst="rect">
            <a:avLst/>
          </a:prstGeom>
          <a:solidFill>
            <a:srgbClr val="F7EFD9"/>
          </a:solidFill>
          <a:ln w="19050">
            <a:solidFill>
              <a:srgbClr val="1B16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 spc="300">
                <a:solidFill>
                  <a:srgbClr val="9B2614"/>
                </a:solidFill>
                <a:latin typeface="Courier New"/>
              </a:rPr>
              <a:t>CMP 4418  ·  FINAL PROJECT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 i="0">
                <a:solidFill>
                  <a:srgbClr val="1B1612"/>
                </a:solidFill>
                <a:latin typeface="Impact"/>
              </a:rPr>
              <a:t>CineSentiment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0" y="4617720"/>
            <a:ext cx="4846320" cy="0"/>
          </a:xfrm>
          <a:prstGeom prst="line">
            <a:avLst/>
          </a:prstGeom>
          <a:ln w="12700">
            <a:solidFill>
              <a:srgbClr val="3D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4754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B1612"/>
                </a:solidFill>
                <a:latin typeface="Helvetica"/>
              </a:rPr>
              <a:t>Esma Oruç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7316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spc="150">
                <a:solidFill>
                  <a:srgbClr val="3D342A"/>
                </a:solidFill>
                <a:latin typeface="Courier New"/>
              </a:rPr>
              <a:t>2022510140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B1612"/>
                </a:solidFill>
                <a:latin typeface="Helvetica"/>
              </a:rPr>
              <a:t>Ayan Abasova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13892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 spc="150">
                <a:solidFill>
                  <a:srgbClr val="3D342A"/>
                </a:solidFill>
                <a:latin typeface="Courier New"/>
              </a:rPr>
              <a:t>2022510014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 spc="150">
                <a:solidFill>
                  <a:srgbClr val="3D342A"/>
                </a:solidFill>
                <a:latin typeface="Courier New"/>
              </a:rPr>
              <a:t>huggingface.co/ethsmaa/cinesentiment-distilbert-imdb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